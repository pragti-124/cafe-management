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sldIdLst>
    <p:sldId id="272" r:id="rId2"/>
    <p:sldId id="256" r:id="rId3"/>
    <p:sldId id="257" r:id="rId4"/>
    <p:sldId id="258" r:id="rId5"/>
    <p:sldId id="259" r:id="rId6"/>
    <p:sldId id="273" r:id="rId7"/>
    <p:sldId id="274" r:id="rId8"/>
    <p:sldId id="275" r:id="rId9"/>
    <p:sldId id="276" r:id="rId10"/>
    <p:sldId id="264" r:id="rId11"/>
    <p:sldId id="265" r:id="rId12"/>
    <p:sldId id="266" r:id="rId13"/>
    <p:sldId id="277" r:id="rId14"/>
    <p:sldId id="271" r:id="rId15"/>
    <p:sldId id="280"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78" d="100"/>
          <a:sy n="78" d="100"/>
        </p:scale>
        <p:origin x="86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7408964"/>
      </p:ext>
    </p:extLst>
  </p:cSld>
  <p:clrMapOvr>
    <a:masterClrMapping/>
  </p:clrMapOvr>
  <p:transition spd="slow">
    <p:push dir="u"/>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2546681"/>
      </p:ext>
    </p:extLst>
  </p:cSld>
  <p:clrMapOvr>
    <a:masterClrMapping/>
  </p:clrMapOvr>
  <p:transition spd="slow">
    <p:push dir="u"/>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58997617"/>
      </p:ext>
    </p:extLst>
  </p:cSld>
  <p:clrMapOvr>
    <a:masterClrMapping/>
  </p:clrMapOvr>
  <p:transition spd="slow">
    <p:push dir="u"/>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5877701"/>
      </p:ext>
    </p:extLst>
  </p:cSld>
  <p:clrMapOvr>
    <a:masterClrMapping/>
  </p:clrMapOvr>
  <p:transition spd="slow">
    <p:push dir="u"/>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2573133"/>
      </p:ext>
    </p:extLst>
  </p:cSld>
  <p:clrMapOvr>
    <a:masterClrMapping/>
  </p:clrMapOvr>
  <p:transition spd="slow">
    <p:push dir="u"/>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14555558"/>
      </p:ext>
    </p:extLst>
  </p:cSld>
  <p:clrMapOvr>
    <a:masterClrMapping/>
  </p:clrMapOvr>
  <p:transition spd="slow">
    <p:push dir="u"/>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4076301"/>
      </p:ext>
    </p:extLst>
  </p:cSld>
  <p:clrMapOvr>
    <a:masterClrMapping/>
  </p:clrMapOvr>
  <p:transition spd="slow">
    <p:push dir="u"/>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9059904"/>
      </p:ext>
    </p:extLst>
  </p:cSld>
  <p:clrMapOvr>
    <a:masterClrMapping/>
  </p:clrMapOvr>
  <p:transition spd="slow">
    <p:push dir="u"/>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0749857"/>
      </p:ext>
    </p:extLst>
  </p:cSld>
  <p:clrMapOvr>
    <a:masterClrMapping/>
  </p:clrMapOvr>
  <p:transition spd="slow">
    <p:push dir="u"/>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1384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86144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82890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8356898"/>
      </p:ext>
    </p:extLst>
  </p:cSld>
  <p:clrMapOvr>
    <a:masterClrMapping/>
  </p:clrMapOvr>
  <p:transition spd="slow">
    <p:push dir="u"/>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374579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26755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9967911"/>
      </p:ext>
    </p:extLst>
  </p:cSld>
  <p:clrMapOvr>
    <a:masterClrMapping/>
  </p:clrMapOvr>
  <p:transition spd="slow">
    <p:push dir="u"/>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0468152"/>
      </p:ext>
    </p:extLst>
  </p:cSld>
  <p:clrMapOvr>
    <a:masterClrMapping/>
  </p:clrMapOvr>
  <p:transition spd="slow">
    <p:push dir="u"/>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92568917"/>
      </p:ext>
    </p:extLst>
  </p:cSld>
  <p:clrMapOvr>
    <a:masterClrMapping/>
  </p:clrMapOvr>
  <p:transition spd="slow">
    <p:push dir="u"/>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61BEF0D-F0BB-DE4B-95CE-6DB70DBA9567}" type="datetimeFigureOut">
              <a:rPr lang="en-US" smtClean="0"/>
              <a:pPr/>
              <a:t>12/23/2022</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3932461"/>
      </p:ext>
    </p:extLst>
  </p:cSld>
  <p:clrMap bg1="dk1" tx1="lt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Lst>
  <p:transition spd="slow">
    <p:push dir="u"/>
    <p:sndAc>
      <p:stSnd>
        <p:snd r:embed="rId20" name="click.wav"/>
      </p:stSnd>
    </p:sndAc>
  </p:transition>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audio" Target="../media/audio1.wav"/><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audio" Target="../media/audio1.wav"/><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sourcecodehero.com/cafe-management-system-project-in-python-with-source-code/#h-cafe-management-system-project-in-python-project-output" TargetMode="External"/><Relationship Id="rId2" Type="http://schemas.openxmlformats.org/officeDocument/2006/relationships/audio" Target="../media/audio1.wav"/><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audio" Target="../media/audio1.wav"/><Relationship Id="rId1" Type="http://schemas.openxmlformats.org/officeDocument/2006/relationships/slideLayout" Target="../slideLayouts/slideLayout6.xml"/><Relationship Id="rId5" Type="http://schemas.openxmlformats.org/officeDocument/2006/relationships/image" Target="../media/image16.jpeg"/><Relationship Id="rId4" Type="http://schemas.openxmlformats.org/officeDocument/2006/relationships/image" Target="../media/image15.jpe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33E3E6-149C-A9E7-86B7-C2D35D575C7B}"/>
              </a:ext>
            </a:extLst>
          </p:cNvPr>
          <p:cNvPicPr>
            <a:picLocks noChangeAspect="1"/>
          </p:cNvPicPr>
          <p:nvPr/>
        </p:nvPicPr>
        <p:blipFill>
          <a:blip r:embed="rId3">
            <a:alphaModFix amt="35000"/>
          </a:blip>
          <a:stretch>
            <a:fillRect/>
          </a:stretch>
        </p:blipFill>
        <p:spPr>
          <a:xfrm>
            <a:off x="0" y="-19664"/>
            <a:ext cx="12192000" cy="6857999"/>
          </a:xfrm>
          <a:prstGeom prst="rect">
            <a:avLst/>
          </a:prstGeom>
        </p:spPr>
      </p:pic>
      <p:sp>
        <p:nvSpPr>
          <p:cNvPr id="2" name="Title 1">
            <a:extLst>
              <a:ext uri="{FF2B5EF4-FFF2-40B4-BE49-F238E27FC236}">
                <a16:creationId xmlns:a16="http://schemas.microsoft.com/office/drawing/2014/main" id="{525BF0C0-AE2B-801D-1AD7-4DD5D5D71D62}"/>
              </a:ext>
            </a:extLst>
          </p:cNvPr>
          <p:cNvSpPr>
            <a:spLocks noGrp="1"/>
          </p:cNvSpPr>
          <p:nvPr>
            <p:ph type="ctrTitle"/>
          </p:nvPr>
        </p:nvSpPr>
        <p:spPr>
          <a:xfrm>
            <a:off x="0" y="0"/>
            <a:ext cx="11965858" cy="3313471"/>
          </a:xfrm>
        </p:spPr>
        <p:txBody>
          <a:bodyPr>
            <a:noAutofit/>
          </a:bodyPr>
          <a:lstStyle/>
          <a:p>
            <a:pPr algn="l"/>
            <a:r>
              <a:rPr lang="en-US" sz="7200" dirty="0">
                <a:latin typeface="Arial Rounded MT Bold" panose="020F0704030504030204" pitchFamily="34" charset="0"/>
              </a:rPr>
              <a:t>CAFE</a:t>
            </a:r>
            <a:br>
              <a:rPr lang="en-US" sz="7200" dirty="0">
                <a:latin typeface="Arial Rounded MT Bold" panose="020F0704030504030204" pitchFamily="34" charset="0"/>
              </a:rPr>
            </a:br>
            <a:r>
              <a:rPr lang="en-US" sz="7200" dirty="0">
                <a:latin typeface="Arial Rounded MT Bold" panose="020F0704030504030204" pitchFamily="34" charset="0"/>
              </a:rPr>
              <a:t>MANAGEMENT</a:t>
            </a:r>
            <a:br>
              <a:rPr lang="en-US" sz="7200" dirty="0">
                <a:latin typeface="Arial Rounded MT Bold" panose="020F0704030504030204" pitchFamily="34" charset="0"/>
              </a:rPr>
            </a:br>
            <a:r>
              <a:rPr lang="en-US" sz="7200" dirty="0">
                <a:latin typeface="Arial Rounded MT Bold" panose="020F0704030504030204" pitchFamily="34" charset="0"/>
              </a:rPr>
              <a:t>SYSTEM</a:t>
            </a:r>
            <a:endParaRPr lang="en-IN" sz="7200" dirty="0">
              <a:latin typeface="Arial Rounded MT Bold" panose="020F0704030504030204" pitchFamily="34" charset="0"/>
            </a:endParaRPr>
          </a:p>
        </p:txBody>
      </p:sp>
      <p:pic>
        <p:nvPicPr>
          <p:cNvPr id="7" name="Picture 6">
            <a:extLst>
              <a:ext uri="{FF2B5EF4-FFF2-40B4-BE49-F238E27FC236}">
                <a16:creationId xmlns:a16="http://schemas.microsoft.com/office/drawing/2014/main" id="{B83D34E8-C837-D3F2-103B-62FCA58FD96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foregroundMark x1="54826" y1="23711" x2="35521" y2="32474"/>
                        <a14:foregroundMark x1="35521" y1="32474" x2="48263" y2="59278"/>
                        <a14:foregroundMark x1="48263" y1="59278" x2="67568" y2="50000"/>
                        <a14:foregroundMark x1="67568" y1="50000" x2="38610" y2="31443"/>
                        <a14:foregroundMark x1="38610" y1="31443" x2="43629" y2="49485"/>
                        <a14:foregroundMark x1="29730" y1="28866" x2="49035" y2="15464"/>
                        <a14:foregroundMark x1="49035" y1="15464" x2="51351" y2="14948"/>
                        <a14:foregroundMark x1="66795" y1="25773" x2="69884" y2="52062"/>
                        <a14:foregroundMark x1="69884" y1="52062" x2="64093" y2="72165"/>
                        <a14:foregroundMark x1="40541" y1="69072" x2="59846" y2="68041"/>
                        <a14:foregroundMark x1="40927" y1="53093" x2="40927" y2="53093"/>
                        <a14:foregroundMark x1="38996" y1="55155" x2="38996" y2="55155"/>
                        <a14:foregroundMark x1="27027" y1="55670" x2="45560" y2="81959"/>
                        <a14:backgroundMark x1="9653" y1="12887" x2="9653" y2="12887"/>
                        <a14:backgroundMark x1="9653" y1="12887" x2="9653" y2="12887"/>
                        <a14:backgroundMark x1="10425" y1="18041" x2="5019" y2="56186"/>
                      </a14:backgroundRemoval>
                    </a14:imgEffect>
                  </a14:imgLayer>
                </a14:imgProps>
              </a:ext>
            </a:extLst>
          </a:blip>
          <a:stretch>
            <a:fillRect/>
          </a:stretch>
        </p:blipFill>
        <p:spPr>
          <a:xfrm>
            <a:off x="9320980" y="4636007"/>
            <a:ext cx="3657599" cy="2502212"/>
          </a:xfrm>
          <a:prstGeom prst="rect">
            <a:avLst/>
          </a:prstGeom>
        </p:spPr>
      </p:pic>
      <p:pic>
        <p:nvPicPr>
          <p:cNvPr id="13" name="Picture 12">
            <a:extLst>
              <a:ext uri="{FF2B5EF4-FFF2-40B4-BE49-F238E27FC236}">
                <a16:creationId xmlns:a16="http://schemas.microsoft.com/office/drawing/2014/main" id="{393412AD-04CE-C58F-75D9-BB46EFB09AD4}"/>
              </a:ext>
            </a:extLst>
          </p:cNvPr>
          <p:cNvPicPr>
            <a:picLocks noChangeAspect="1"/>
          </p:cNvPicPr>
          <p:nvPr/>
        </p:nvPicPr>
        <p:blipFill>
          <a:blip r:embed="rId6"/>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15127792"/>
      </p:ext>
    </p:extLst>
  </p:cSld>
  <p:clrMapOvr>
    <a:masterClrMapping/>
  </p:clrMapOvr>
  <p:transition spd="slow">
    <p:push dir="u"/>
    <p:sndAc>
      <p:stSnd>
        <p:snd r:embed="rId2"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CE095-8239-7C93-DD30-5A04CD4BA7AB}"/>
              </a:ext>
            </a:extLst>
          </p:cNvPr>
          <p:cNvSpPr>
            <a:spLocks noGrp="1"/>
          </p:cNvSpPr>
          <p:nvPr>
            <p:ph type="title"/>
          </p:nvPr>
        </p:nvSpPr>
        <p:spPr>
          <a:xfrm>
            <a:off x="675229" y="1223319"/>
            <a:ext cx="11519263" cy="4448432"/>
          </a:xfrm>
          <a:noFill/>
        </p:spPr>
        <p:txBody>
          <a:bodyPr>
            <a:noAutofit/>
          </a:bodyPr>
          <a:lstStyle/>
          <a:p>
            <a:pPr algn="l"/>
            <a:r>
              <a:rPr lang="en-US" sz="5400" dirty="0"/>
              <a:t>             </a:t>
            </a:r>
            <a:r>
              <a:rPr lang="en-US" sz="5400" b="1" dirty="0"/>
              <a:t>TEAM PROJECT:</a:t>
            </a:r>
            <a:br>
              <a:rPr lang="en-US" sz="5400" b="1" dirty="0"/>
            </a:br>
            <a:r>
              <a:rPr lang="en-US" sz="5400" dirty="0"/>
              <a:t>PRINCE KUMAR –  2210992090</a:t>
            </a:r>
            <a:br>
              <a:rPr lang="en-US" sz="5400" dirty="0"/>
            </a:br>
            <a:r>
              <a:rPr lang="en-US" sz="5400" dirty="0"/>
              <a:t>PRERNA SHARMA -2210992086</a:t>
            </a:r>
            <a:br>
              <a:rPr lang="en-US" sz="5400" dirty="0"/>
            </a:br>
            <a:r>
              <a:rPr lang="en-US" sz="5400" dirty="0"/>
              <a:t>PRAGTI GUPTA - 2210992056</a:t>
            </a:r>
            <a:br>
              <a:rPr lang="en-US" sz="5400" dirty="0"/>
            </a:br>
            <a:br>
              <a:rPr lang="en-IN" sz="5400" dirty="0"/>
            </a:br>
            <a:endParaRPr lang="en-IN" sz="5400" dirty="0">
              <a:solidFill>
                <a:schemeClr val="bg1"/>
              </a:solidFill>
            </a:endParaRPr>
          </a:p>
        </p:txBody>
      </p:sp>
      <p:sp>
        <p:nvSpPr>
          <p:cNvPr id="5" name="Content Placeholder 4">
            <a:extLst>
              <a:ext uri="{FF2B5EF4-FFF2-40B4-BE49-F238E27FC236}">
                <a16:creationId xmlns:a16="http://schemas.microsoft.com/office/drawing/2014/main" id="{97C66AF5-FCDF-E18F-3590-37693E2F4E01}"/>
              </a:ext>
            </a:extLst>
          </p:cNvPr>
          <p:cNvSpPr>
            <a:spLocks noGrp="1"/>
          </p:cNvSpPr>
          <p:nvPr>
            <p:ph idx="1"/>
          </p:nvPr>
        </p:nvSpPr>
        <p:spPr>
          <a:xfrm>
            <a:off x="1638300" y="2057399"/>
            <a:ext cx="10553700" cy="4669971"/>
          </a:xfrm>
        </p:spPr>
        <p:txBody>
          <a:bodyPr/>
          <a:lstStyle/>
          <a:p>
            <a:r>
              <a:rPr lang="en-US" b="1" dirty="0">
                <a:latin typeface="Arial Black" panose="020B0A04020102020204" pitchFamily="34" charset="0"/>
              </a:rPr>
              <a:t>    </a:t>
            </a:r>
            <a:endParaRPr lang="en-IN" dirty="0"/>
          </a:p>
        </p:txBody>
      </p:sp>
      <p:pic>
        <p:nvPicPr>
          <p:cNvPr id="3" name="Picture 2">
            <a:extLst>
              <a:ext uri="{FF2B5EF4-FFF2-40B4-BE49-F238E27FC236}">
                <a16:creationId xmlns:a16="http://schemas.microsoft.com/office/drawing/2014/main" id="{7E7D0DA2-E3D7-DA16-5DF4-0A9F982ECCCD}"/>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12">
            <a:extLst>
              <a:ext uri="{FF2B5EF4-FFF2-40B4-BE49-F238E27FC236}">
                <a16:creationId xmlns:a16="http://schemas.microsoft.com/office/drawing/2014/main" id="{EADB2EFA-FE55-2360-8B61-4B4671C8C77E}"/>
              </a:ext>
            </a:extLst>
          </p:cNvPr>
          <p:cNvPicPr>
            <a:picLocks noChangeAspect="1"/>
          </p:cNvPicPr>
          <p:nvPr/>
        </p:nvPicPr>
        <p:blipFill>
          <a:blip r:embed="rId4"/>
          <a:stretch>
            <a:fillRect/>
          </a:stretch>
        </p:blipFill>
        <p:spPr>
          <a:xfrm>
            <a:off x="1" y="4336343"/>
            <a:ext cx="12189190" cy="25107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2287246"/>
      </p:ext>
    </p:extLst>
  </p:cSld>
  <p:clrMapOvr>
    <a:masterClrMapping/>
  </p:clrMapOvr>
  <p:transition spd="slow">
    <p:push dir="u"/>
    <p:sndAc>
      <p:stSnd>
        <p:snd r:embed="rId2"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0DAFB-B310-1788-C2F6-B25F99539FDF}"/>
              </a:ext>
            </a:extLst>
          </p:cNvPr>
          <p:cNvSpPr>
            <a:spLocks noGrp="1"/>
          </p:cNvSpPr>
          <p:nvPr>
            <p:ph type="title"/>
          </p:nvPr>
        </p:nvSpPr>
        <p:spPr>
          <a:xfrm>
            <a:off x="177283" y="-19664"/>
            <a:ext cx="12014718" cy="1369252"/>
          </a:xfrm>
          <a:noFill/>
        </p:spPr>
        <p:txBody>
          <a:bodyPr/>
          <a:lstStyle/>
          <a:p>
            <a:r>
              <a:rPr lang="en-US" b="1" dirty="0">
                <a:solidFill>
                  <a:schemeClr val="bg1"/>
                </a:solidFill>
              </a:rPr>
              <a:t> </a:t>
            </a:r>
            <a:r>
              <a:rPr lang="en-US" b="1" dirty="0">
                <a:solidFill>
                  <a:schemeClr val="tx1"/>
                </a:solidFill>
              </a:rPr>
              <a:t>1. Introduction</a:t>
            </a:r>
            <a:endParaRPr lang="en-IN" b="1" dirty="0">
              <a:solidFill>
                <a:schemeClr val="tx1"/>
              </a:solidFill>
            </a:endParaRPr>
          </a:p>
        </p:txBody>
      </p:sp>
      <p:pic>
        <p:nvPicPr>
          <p:cNvPr id="10" name="Picture 9">
            <a:extLst>
              <a:ext uri="{FF2B5EF4-FFF2-40B4-BE49-F238E27FC236}">
                <a16:creationId xmlns:a16="http://schemas.microsoft.com/office/drawing/2014/main" id="{A7EC0103-BAA0-729C-F417-895215B25300}"/>
              </a:ext>
            </a:extLst>
          </p:cNvPr>
          <p:cNvPicPr>
            <a:picLocks noChangeAspect="1"/>
          </p:cNvPicPr>
          <p:nvPr/>
        </p:nvPicPr>
        <p:blipFill rotWithShape="1">
          <a:blip r:embed="rId3"/>
          <a:srcRect r="-69670"/>
          <a:stretch/>
        </p:blipFill>
        <p:spPr>
          <a:xfrm>
            <a:off x="7130682" y="936323"/>
            <a:ext cx="8671363" cy="5908908"/>
          </a:xfrm>
          <a:prstGeom prst="ellipse">
            <a:avLst/>
          </a:prstGeom>
        </p:spPr>
      </p:pic>
      <p:sp>
        <p:nvSpPr>
          <p:cNvPr id="3" name="Text Placeholder 2">
            <a:extLst>
              <a:ext uri="{FF2B5EF4-FFF2-40B4-BE49-F238E27FC236}">
                <a16:creationId xmlns:a16="http://schemas.microsoft.com/office/drawing/2014/main" id="{9BF9B5E3-342B-0DC6-0381-EFED9A8F41FD}"/>
              </a:ext>
            </a:extLst>
          </p:cNvPr>
          <p:cNvSpPr>
            <a:spLocks noGrp="1"/>
          </p:cNvSpPr>
          <p:nvPr>
            <p:ph type="body" idx="1"/>
          </p:nvPr>
        </p:nvSpPr>
        <p:spPr>
          <a:xfrm>
            <a:off x="0" y="1361946"/>
            <a:ext cx="12247858" cy="5443670"/>
          </a:xfrm>
          <a:noFill/>
        </p:spPr>
        <p:style>
          <a:lnRef idx="2">
            <a:schemeClr val="accent2"/>
          </a:lnRef>
          <a:fillRef idx="1">
            <a:schemeClr val="lt1"/>
          </a:fillRef>
          <a:effectRef idx="0">
            <a:schemeClr val="accent2"/>
          </a:effectRef>
          <a:fontRef idx="minor">
            <a:schemeClr val="dk1"/>
          </a:fontRef>
        </p:style>
        <p:txBody>
          <a:bodyPr/>
          <a:lstStyle/>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Objective  </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 It is a desktop application which deals with "Cafe Management System". The system has two parts first for the "Admin" and the other for “employee”.</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The admin side allows the customer to "Place Order“ ,"Add Item", "Update Items" &amp; "Remove Items" and the employee can only "Place order" &amp; "Generate Bill" of purchase for the customer.</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Domain</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In this project admin can add, update or delete the details of the items and employee can take the order of the customer &amp; generate the bill.</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 Scope</a:t>
            </a:r>
          </a:p>
          <a:p>
            <a:pPr marL="285750" indent="-285750">
              <a:buFont typeface="Courier New" panose="02070309020205020404" pitchFamily="49" charset="0"/>
              <a:buChar char="o"/>
            </a:pPr>
            <a:r>
              <a:rPr lang="en-US" dirty="0">
                <a:solidFill>
                  <a:schemeClr val="tx1"/>
                </a:solidFill>
                <a:effectLst/>
                <a:latin typeface="Arial Rounded MT Bold" panose="020F0704030504030204" pitchFamily="34" charset="0"/>
              </a:rPr>
              <a:t>The division of work like placing customer order and generating bill will be performed by the employee and adding items and their price will be performed by the admin.</a:t>
            </a:r>
          </a:p>
          <a:p>
            <a:pPr marL="285750" indent="-285750">
              <a:buFont typeface="Courier New" panose="02070309020205020404" pitchFamily="49" charset="0"/>
              <a:buChar char="o"/>
            </a:pPr>
            <a:endParaRPr lang="en-US" dirty="0">
              <a:solidFill>
                <a:schemeClr val="tx1"/>
              </a:solidFill>
              <a:effectLst/>
              <a:latin typeface="Arial Rounded MT Bold" panose="020F0704030504030204" pitchFamily="34" charset="0"/>
            </a:endParaRPr>
          </a:p>
          <a:p>
            <a:pPr marL="285750" indent="-285750">
              <a:buFont typeface="Courier New" panose="02070309020205020404" pitchFamily="49" charset="0"/>
              <a:buChar char="o"/>
            </a:pPr>
            <a:endParaRPr lang="en-US" dirty="0">
              <a:effectLst/>
              <a:latin typeface="Arial Rounded MT Bold" panose="020F0704030504030204" pitchFamily="34" charset="0"/>
            </a:endParaRPr>
          </a:p>
          <a:p>
            <a:pPr marL="285750" indent="-285750">
              <a:buFont typeface="Courier New" panose="02070309020205020404" pitchFamily="49" charset="0"/>
              <a:buChar char="o"/>
            </a:pPr>
            <a:endParaRPr lang="en-IN" dirty="0"/>
          </a:p>
        </p:txBody>
      </p:sp>
      <p:pic>
        <p:nvPicPr>
          <p:cNvPr id="4" name="Picture 3">
            <a:extLst>
              <a:ext uri="{FF2B5EF4-FFF2-40B4-BE49-F238E27FC236}">
                <a16:creationId xmlns:a16="http://schemas.microsoft.com/office/drawing/2014/main" id="{2C60F836-3FB4-F627-8E4D-8808C0B82A1E}"/>
              </a:ext>
            </a:extLst>
          </p:cNvPr>
          <p:cNvPicPr>
            <a:picLocks noChangeAspect="1"/>
          </p:cNvPicPr>
          <p:nvPr/>
        </p:nvPicPr>
        <p:blipFill>
          <a:blip r:embed="rId4"/>
          <a:stretch>
            <a:fillRect/>
          </a:stretch>
        </p:blipFill>
        <p:spPr>
          <a:xfrm>
            <a:off x="9065706" y="-6030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17998121"/>
      </p:ext>
    </p:extLst>
  </p:cSld>
  <p:clrMapOvr>
    <a:masterClrMapping/>
  </p:clrMapOvr>
  <p:transition spd="slow">
    <p:push dir="u"/>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DE737-EC4C-C919-28E9-87489A3177D4}"/>
              </a:ext>
            </a:extLst>
          </p:cNvPr>
          <p:cNvSpPr>
            <a:spLocks noGrp="1"/>
          </p:cNvSpPr>
          <p:nvPr>
            <p:ph type="title"/>
          </p:nvPr>
        </p:nvSpPr>
        <p:spPr>
          <a:xfrm>
            <a:off x="0" y="271243"/>
            <a:ext cx="11422580" cy="741906"/>
          </a:xfrm>
          <a:noFill/>
          <a:ln>
            <a:noFill/>
          </a:ln>
        </p:spPr>
        <p:txBody>
          <a:bodyPr>
            <a:normAutofit/>
          </a:bodyPr>
          <a:lstStyle/>
          <a:p>
            <a:pPr algn="l"/>
            <a:r>
              <a:rPr lang="en-US" b="1" u="sng" dirty="0">
                <a:solidFill>
                  <a:schemeClr val="tx1"/>
                </a:solidFill>
              </a:rPr>
              <a:t>           2. ABSTRACT</a:t>
            </a:r>
            <a:endParaRPr lang="en-IN" b="1" u="sng" dirty="0">
              <a:solidFill>
                <a:schemeClr val="tx1"/>
              </a:solidFill>
            </a:endParaRPr>
          </a:p>
        </p:txBody>
      </p:sp>
      <p:sp>
        <p:nvSpPr>
          <p:cNvPr id="3" name="Content Placeholder 2">
            <a:extLst>
              <a:ext uri="{FF2B5EF4-FFF2-40B4-BE49-F238E27FC236}">
                <a16:creationId xmlns:a16="http://schemas.microsoft.com/office/drawing/2014/main" id="{EE59B560-AD70-DA56-C647-0F0CB981B5F7}"/>
              </a:ext>
            </a:extLst>
          </p:cNvPr>
          <p:cNvSpPr>
            <a:spLocks noGrp="1"/>
          </p:cNvSpPr>
          <p:nvPr>
            <p:ph idx="1"/>
          </p:nvPr>
        </p:nvSpPr>
        <p:spPr>
          <a:xfrm>
            <a:off x="9960076" y="6841778"/>
            <a:ext cx="2231923" cy="45719"/>
          </a:xfrm>
        </p:spPr>
        <p:txBody>
          <a:bodyPr>
            <a:normAutofit fontScale="25000" lnSpcReduction="20000"/>
          </a:bodyPr>
          <a:lstStyle/>
          <a:p>
            <a:pPr marL="36900" indent="0">
              <a:buNone/>
            </a:pPr>
            <a:endParaRPr lang="en-IN" dirty="0"/>
          </a:p>
        </p:txBody>
      </p:sp>
      <p:sp>
        <p:nvSpPr>
          <p:cNvPr id="5" name="TextBox 4">
            <a:extLst>
              <a:ext uri="{FF2B5EF4-FFF2-40B4-BE49-F238E27FC236}">
                <a16:creationId xmlns:a16="http://schemas.microsoft.com/office/drawing/2014/main" id="{CC7E2461-0E7F-2C88-6583-DAE205C17A54}"/>
              </a:ext>
            </a:extLst>
          </p:cNvPr>
          <p:cNvSpPr txBox="1"/>
          <p:nvPr/>
        </p:nvSpPr>
        <p:spPr>
          <a:xfrm>
            <a:off x="0" y="1719943"/>
            <a:ext cx="11816862" cy="4224512"/>
          </a:xfrm>
          <a:prstGeom prst="rect">
            <a:avLst/>
          </a:prstGeom>
          <a:noFill/>
        </p:spPr>
        <p:txBody>
          <a:bodyPr wrap="square">
            <a:spAutoFit/>
          </a:bodyPr>
          <a:lstStyle/>
          <a:p>
            <a:r>
              <a:rPr lang="en-IN" sz="2400" dirty="0"/>
              <a:t>"Café Management System" is a desktop application. This system is developed to automate day to day activity of a food cafe. Food café is a kind of business that serves people all over world. This system is developers service facility to cafe owners. This café management system can be used by employees in a café to handle the customers, their orders and can help them easily place orders. Main objective to build this system is to provide management service to the café owners. They can keep track of the records, instead of taking orders in paper they can take the order in the Café Management System where admin can easily add, update or delete the items from the menu at ease. This system also provide the security to café owner business as there is no way any employee can misuse the system because they won’t have permissions to update the prices of item or delete any transactions.</a:t>
            </a:r>
          </a:p>
        </p:txBody>
      </p:sp>
      <p:pic>
        <p:nvPicPr>
          <p:cNvPr id="4" name="Picture 3">
            <a:extLst>
              <a:ext uri="{FF2B5EF4-FFF2-40B4-BE49-F238E27FC236}">
                <a16:creationId xmlns:a16="http://schemas.microsoft.com/office/drawing/2014/main" id="{DF1C9FF6-2A10-AC26-693F-46A7B0BC4624}"/>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971485054"/>
      </p:ext>
    </p:extLst>
  </p:cSld>
  <p:clrMapOvr>
    <a:masterClrMapping/>
  </p:clrMapOvr>
  <p:transition spd="slow">
    <p:push dir="u"/>
    <p:sndAc>
      <p:stSnd>
        <p:snd r:embed="rId2"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BC2A0-487A-06BD-FD22-E5A4D82030C7}"/>
              </a:ext>
            </a:extLst>
          </p:cNvPr>
          <p:cNvSpPr>
            <a:spLocks noGrp="1"/>
          </p:cNvSpPr>
          <p:nvPr>
            <p:ph type="title"/>
          </p:nvPr>
        </p:nvSpPr>
        <p:spPr>
          <a:noFill/>
        </p:spPr>
        <p:txBody>
          <a:bodyPr/>
          <a:lstStyle/>
          <a:p>
            <a:r>
              <a:rPr lang="en-US" b="1" u="sng" dirty="0">
                <a:solidFill>
                  <a:schemeClr val="tx1"/>
                </a:solidFill>
              </a:rPr>
              <a:t>3. MODULES</a:t>
            </a:r>
            <a:r>
              <a:rPr lang="en-US" b="1" dirty="0">
                <a:solidFill>
                  <a:schemeClr val="tx1"/>
                </a:solidFill>
              </a:rPr>
              <a:t> </a:t>
            </a:r>
            <a:endParaRPr lang="en-IN" b="1" dirty="0">
              <a:solidFill>
                <a:schemeClr val="tx1"/>
              </a:solidFill>
            </a:endParaRPr>
          </a:p>
        </p:txBody>
      </p:sp>
      <p:sp>
        <p:nvSpPr>
          <p:cNvPr id="3" name="Content Placeholder 2">
            <a:extLst>
              <a:ext uri="{FF2B5EF4-FFF2-40B4-BE49-F238E27FC236}">
                <a16:creationId xmlns:a16="http://schemas.microsoft.com/office/drawing/2014/main" id="{E3258913-437A-DA6C-7AD8-1DBFC8AFB518}"/>
              </a:ext>
            </a:extLst>
          </p:cNvPr>
          <p:cNvSpPr>
            <a:spLocks noGrp="1"/>
          </p:cNvSpPr>
          <p:nvPr>
            <p:ph idx="1"/>
          </p:nvPr>
        </p:nvSpPr>
        <p:spPr>
          <a:xfrm>
            <a:off x="0" y="1769806"/>
            <a:ext cx="12192000" cy="5088194"/>
          </a:xfrm>
          <a:solidFill>
            <a:schemeClr val="bg2"/>
          </a:solidFill>
          <a:ln>
            <a:noFill/>
          </a:ln>
        </p:spPr>
        <p:txBody>
          <a:bodyPr>
            <a:normAutofit/>
          </a:bodyPr>
          <a:lstStyle/>
          <a:p>
            <a:pPr marL="0" indent="0">
              <a:buNone/>
            </a:pPr>
            <a:endParaRPr lang="en-US" dirty="0"/>
          </a:p>
          <a:p>
            <a:r>
              <a:rPr lang="en-US" sz="2800" b="1" dirty="0"/>
              <a:t>PLACE ORDER:</a:t>
            </a:r>
            <a:endParaRPr lang="en-US" sz="2800" dirty="0"/>
          </a:p>
          <a:p>
            <a:r>
              <a:rPr lang="en-US" sz="2800" dirty="0"/>
              <a:t> CHOOSE CATEGORY</a:t>
            </a:r>
          </a:p>
          <a:p>
            <a:r>
              <a:rPr lang="en-US" sz="2800" dirty="0"/>
              <a:t> SEARCH BY NAME </a:t>
            </a:r>
          </a:p>
          <a:p>
            <a:r>
              <a:rPr lang="en-US" sz="2800" dirty="0"/>
              <a:t> SELECT QUANTITY</a:t>
            </a:r>
          </a:p>
          <a:p>
            <a:r>
              <a:rPr lang="en-US" sz="2800" dirty="0"/>
              <a:t> ADD TO CART </a:t>
            </a:r>
          </a:p>
          <a:p>
            <a:r>
              <a:rPr lang="en-US" sz="2800" dirty="0"/>
              <a:t> REMOVE PRODUCT</a:t>
            </a:r>
          </a:p>
          <a:p>
            <a:r>
              <a:rPr lang="en-US" sz="2800" dirty="0"/>
              <a:t> GENERATE BILL</a:t>
            </a:r>
          </a:p>
          <a:p>
            <a:pPr marL="0" indent="0">
              <a:buNone/>
            </a:pPr>
            <a:endParaRPr lang="en-US" sz="2800" b="1" dirty="0"/>
          </a:p>
          <a:p>
            <a:pPr marL="0" indent="0">
              <a:buNone/>
            </a:pPr>
            <a:endParaRPr lang="en-US" sz="2800" dirty="0"/>
          </a:p>
        </p:txBody>
      </p:sp>
      <p:pic>
        <p:nvPicPr>
          <p:cNvPr id="4" name="Picture 3">
            <a:extLst>
              <a:ext uri="{FF2B5EF4-FFF2-40B4-BE49-F238E27FC236}">
                <a16:creationId xmlns:a16="http://schemas.microsoft.com/office/drawing/2014/main" id="{D9A717EC-5BAF-274E-C8E0-4469F5BE8611}"/>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a:extLst>
              <a:ext uri="{FF2B5EF4-FFF2-40B4-BE49-F238E27FC236}">
                <a16:creationId xmlns:a16="http://schemas.microsoft.com/office/drawing/2014/main" id="{0D7764BA-E9E9-41FA-986A-48C87A06C41E}"/>
              </a:ext>
            </a:extLst>
          </p:cNvPr>
          <p:cNvPicPr>
            <a:picLocks noChangeAspect="1"/>
          </p:cNvPicPr>
          <p:nvPr/>
        </p:nvPicPr>
        <p:blipFill>
          <a:blip r:embed="rId4"/>
          <a:stretch>
            <a:fillRect/>
          </a:stretch>
        </p:blipFill>
        <p:spPr>
          <a:xfrm>
            <a:off x="9684168" y="5013376"/>
            <a:ext cx="2468714" cy="18052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25594006"/>
      </p:ext>
    </p:extLst>
  </p:cSld>
  <p:clrMapOvr>
    <a:masterClrMapping/>
  </p:clrMapOvr>
  <p:transition spd="slow">
    <p:push dir="u"/>
    <p:sndAc>
      <p:stSnd>
        <p:snd r:embed="rId2"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56BD3-2F49-3EB2-EBDC-6BEE41422C1F}"/>
              </a:ext>
            </a:extLst>
          </p:cNvPr>
          <p:cNvSpPr>
            <a:spLocks noGrp="1"/>
          </p:cNvSpPr>
          <p:nvPr>
            <p:ph type="ctrTitle"/>
          </p:nvPr>
        </p:nvSpPr>
        <p:spPr>
          <a:xfrm>
            <a:off x="-2347784" y="-316229"/>
            <a:ext cx="13689780" cy="1187519"/>
          </a:xfrm>
        </p:spPr>
        <p:txBody>
          <a:bodyPr>
            <a:normAutofit/>
          </a:bodyPr>
          <a:lstStyle/>
          <a:p>
            <a:r>
              <a:rPr lang="en-IN" sz="4400" b="1" u="sng" dirty="0">
                <a:solidFill>
                  <a:schemeClr val="tx1"/>
                </a:solidFill>
              </a:rPr>
              <a:t>4.</a:t>
            </a:r>
            <a:r>
              <a:rPr lang="en-IN" sz="4800" b="1" u="sng" dirty="0">
                <a:solidFill>
                  <a:schemeClr val="tx1"/>
                </a:solidFill>
              </a:rPr>
              <a:t>RESOURCE REQUIREMENT</a:t>
            </a:r>
            <a:endParaRPr lang="en-IN" sz="4800" u="sng" dirty="0">
              <a:solidFill>
                <a:schemeClr val="tx1"/>
              </a:solidFill>
            </a:endParaRPr>
          </a:p>
        </p:txBody>
      </p:sp>
      <p:sp>
        <p:nvSpPr>
          <p:cNvPr id="3" name="Subtitle 2">
            <a:extLst>
              <a:ext uri="{FF2B5EF4-FFF2-40B4-BE49-F238E27FC236}">
                <a16:creationId xmlns:a16="http://schemas.microsoft.com/office/drawing/2014/main" id="{0E7936B4-14B5-37A0-B4EB-B060090743F5}"/>
              </a:ext>
            </a:extLst>
          </p:cNvPr>
          <p:cNvSpPr>
            <a:spLocks noGrp="1"/>
          </p:cNvSpPr>
          <p:nvPr>
            <p:ph type="subTitle" idx="1"/>
          </p:nvPr>
        </p:nvSpPr>
        <p:spPr>
          <a:xfrm>
            <a:off x="0" y="1258529"/>
            <a:ext cx="10810727" cy="5599472"/>
          </a:xfrm>
        </p:spPr>
        <p:txBody>
          <a:bodyPr>
            <a:noAutofit/>
          </a:bodyPr>
          <a:lstStyle/>
          <a:p>
            <a:pPr algn="l"/>
            <a:r>
              <a:rPr lang="en-US" sz="3200" b="1" dirty="0"/>
              <a:t>Human Resource</a:t>
            </a:r>
          </a:p>
          <a:p>
            <a:pPr algn="l"/>
            <a:r>
              <a:rPr lang="en-US" sz="3200" b="1" dirty="0"/>
              <a:t>All members of team come from International University, so we have a good basic knowledge about software process and skill in programming as well as team-work. </a:t>
            </a:r>
          </a:p>
          <a:p>
            <a:pPr algn="l"/>
            <a:r>
              <a:rPr lang="en-US" sz="3200" b="1" dirty="0"/>
              <a:t>Hardware and software Resources</a:t>
            </a:r>
          </a:p>
          <a:p>
            <a:pPr algn="l"/>
            <a:r>
              <a:rPr lang="en-US" sz="3200" b="1" dirty="0"/>
              <a:t>Cafeteria Management System is created by using PYTHON, with functions and small database, so we just need an average sever</a:t>
            </a:r>
            <a:endParaRPr lang="en-IN" sz="3200" b="1" dirty="0"/>
          </a:p>
          <a:p>
            <a:pPr algn="l"/>
            <a:endParaRPr lang="en-IN" sz="3200" dirty="0"/>
          </a:p>
        </p:txBody>
      </p:sp>
      <p:pic>
        <p:nvPicPr>
          <p:cNvPr id="4" name="Picture 3">
            <a:extLst>
              <a:ext uri="{FF2B5EF4-FFF2-40B4-BE49-F238E27FC236}">
                <a16:creationId xmlns:a16="http://schemas.microsoft.com/office/drawing/2014/main" id="{9919B599-0BF1-1438-0A7F-8D83E99C98B8}"/>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27868430"/>
      </p:ext>
    </p:extLst>
  </p:cSld>
  <p:clrMapOvr>
    <a:masterClrMapping/>
  </p:clrMapOvr>
  <p:transition spd="slow">
    <p:push dir="u"/>
    <p:sndAc>
      <p:stSnd>
        <p:snd r:embed="rId2"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99906-CB7A-3D44-D5D9-8D4190E6569B}"/>
              </a:ext>
            </a:extLst>
          </p:cNvPr>
          <p:cNvSpPr>
            <a:spLocks noGrp="1"/>
          </p:cNvSpPr>
          <p:nvPr>
            <p:ph type="ctrTitle"/>
          </p:nvPr>
        </p:nvSpPr>
        <p:spPr>
          <a:xfrm>
            <a:off x="-716687" y="-19664"/>
            <a:ext cx="13011660" cy="3603123"/>
          </a:xfrm>
        </p:spPr>
        <p:txBody>
          <a:bodyPr/>
          <a:lstStyle/>
          <a:p>
            <a:r>
              <a:rPr lang="en-US" sz="5400" b="1" u="sng" dirty="0">
                <a:solidFill>
                  <a:schemeClr val="tx1"/>
                </a:solidFill>
                <a:latin typeface="Arial Rounded MT Bold" panose="020F0704030504030204" pitchFamily="34" charset="0"/>
              </a:rPr>
              <a:t>Non-Functional C/ External Requirement                                  </a:t>
            </a:r>
            <a:r>
              <a:rPr lang="en-US" sz="5400" b="1" u="sng" dirty="0" err="1">
                <a:solidFill>
                  <a:schemeClr val="tx1"/>
                </a:solidFill>
                <a:latin typeface="Arial Rounded MT Bold" panose="020F0704030504030204" pitchFamily="34" charset="0"/>
              </a:rPr>
              <a:t>Requirement</a:t>
            </a:r>
            <a:r>
              <a:rPr lang="en-US" sz="5400" b="1" u="sng" dirty="0">
                <a:solidFill>
                  <a:schemeClr val="tx1"/>
                </a:solidFill>
                <a:latin typeface="Arial Rounded MT Bold" panose="020F0704030504030204" pitchFamily="34" charset="0"/>
              </a:rPr>
              <a:t> Description</a:t>
            </a:r>
            <a:endParaRPr lang="en-IN" u="sng" dirty="0">
              <a:solidFill>
                <a:schemeClr val="tx1"/>
              </a:solidFill>
              <a:latin typeface="Arial Rounded MT Bold" panose="020F0704030504030204" pitchFamily="34" charset="0"/>
            </a:endParaRPr>
          </a:p>
        </p:txBody>
      </p:sp>
      <p:sp>
        <p:nvSpPr>
          <p:cNvPr id="3" name="Subtitle 2">
            <a:extLst>
              <a:ext uri="{FF2B5EF4-FFF2-40B4-BE49-F238E27FC236}">
                <a16:creationId xmlns:a16="http://schemas.microsoft.com/office/drawing/2014/main" id="{35AB781C-C253-AE57-F8AD-6D2D305E6C49}"/>
              </a:ext>
            </a:extLst>
          </p:cNvPr>
          <p:cNvSpPr>
            <a:spLocks noGrp="1"/>
          </p:cNvSpPr>
          <p:nvPr>
            <p:ph type="subTitle" idx="1"/>
          </p:nvPr>
        </p:nvSpPr>
        <p:spPr>
          <a:xfrm>
            <a:off x="86497" y="4114800"/>
            <a:ext cx="10724230" cy="1668162"/>
          </a:xfrm>
        </p:spPr>
        <p:txBody>
          <a:bodyPr>
            <a:normAutofit/>
          </a:bodyPr>
          <a:lstStyle/>
          <a:p>
            <a:pPr marL="571500" indent="-571500" algn="l">
              <a:buFont typeface="Wingdings" panose="05000000000000000000" pitchFamily="2" charset="2"/>
              <a:buChar char="q"/>
            </a:pPr>
            <a:r>
              <a:rPr lang="en-US" sz="3200" b="1" dirty="0"/>
              <a:t>Item Illegal The website must use legal items. The system will be acceptable to users and the general public.</a:t>
            </a:r>
            <a:endParaRPr lang="en-IN" sz="3200" b="1" dirty="0"/>
          </a:p>
          <a:p>
            <a:pPr marL="342900" indent="-342900">
              <a:buFont typeface="Wingdings" panose="05000000000000000000" pitchFamily="2" charset="2"/>
              <a:buChar char="q"/>
            </a:pPr>
            <a:endParaRPr lang="en-IN" sz="1600" dirty="0"/>
          </a:p>
        </p:txBody>
      </p:sp>
      <p:pic>
        <p:nvPicPr>
          <p:cNvPr id="4" name="Picture 3">
            <a:extLst>
              <a:ext uri="{FF2B5EF4-FFF2-40B4-BE49-F238E27FC236}">
                <a16:creationId xmlns:a16="http://schemas.microsoft.com/office/drawing/2014/main" id="{6E63ABC8-1B4D-19F0-A372-FA088E4C4A96}"/>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57509248"/>
      </p:ext>
    </p:extLst>
  </p:cSld>
  <p:clrMapOvr>
    <a:masterClrMapping/>
  </p:clrMapOvr>
  <p:transition spd="slow">
    <p:push dir="u"/>
    <p:sndAc>
      <p:stSnd>
        <p:snd r:embed="rId2"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A4BFEB11-8A59-086F-41EA-F630D16AC20A}"/>
              </a:ext>
            </a:extLst>
          </p:cNvPr>
          <p:cNvPicPr>
            <a:picLocks noGrp="1" noChangeAspect="1"/>
          </p:cNvPicPr>
          <p:nvPr>
            <p:ph idx="1"/>
          </p:nvPr>
        </p:nvPicPr>
        <p:blipFill>
          <a:blip r:embed="rId3">
            <a:alphaModFix amt="20000"/>
          </a:blip>
          <a:stretch>
            <a:fillRect/>
          </a:stretch>
        </p:blipFill>
        <p:spPr>
          <a:xfrm>
            <a:off x="0" y="-9832"/>
            <a:ext cx="12192000" cy="6905474"/>
          </a:xfrm>
        </p:spPr>
      </p:pic>
      <p:sp>
        <p:nvSpPr>
          <p:cNvPr id="2" name="Title 1">
            <a:extLst>
              <a:ext uri="{FF2B5EF4-FFF2-40B4-BE49-F238E27FC236}">
                <a16:creationId xmlns:a16="http://schemas.microsoft.com/office/drawing/2014/main" id="{124E1B29-B009-B9EE-DAE4-15DF1EB6B773}"/>
              </a:ext>
            </a:extLst>
          </p:cNvPr>
          <p:cNvSpPr>
            <a:spLocks noGrp="1"/>
          </p:cNvSpPr>
          <p:nvPr>
            <p:ph type="title"/>
          </p:nvPr>
        </p:nvSpPr>
        <p:spPr>
          <a:xfrm>
            <a:off x="0" y="1602658"/>
            <a:ext cx="11218397" cy="2290917"/>
          </a:xfrm>
        </p:spPr>
        <p:txBody>
          <a:bodyPr>
            <a:normAutofit/>
          </a:bodyPr>
          <a:lstStyle/>
          <a:p>
            <a:pPr marL="571500" indent="-571500">
              <a:lnSpc>
                <a:spcPct val="150000"/>
              </a:lnSpc>
              <a:buFont typeface="Wingdings" panose="05000000000000000000" pitchFamily="2" charset="2"/>
              <a:buChar char="q"/>
            </a:pPr>
            <a:r>
              <a:rPr lang="en-US" b="1" u="sng" spc="300" dirty="0">
                <a:solidFill>
                  <a:schemeClr val="tx1"/>
                </a:solidFill>
                <a:latin typeface="Jokerman" panose="04090605060D06020702" pitchFamily="82" charset="0"/>
              </a:rPr>
              <a:t>Justification for project and Methodology !</a:t>
            </a:r>
            <a:endParaRPr lang="en-IN" u="sng" spc="300" dirty="0">
              <a:solidFill>
                <a:schemeClr val="tx1"/>
              </a:solidFill>
              <a:latin typeface="Jokerman" panose="04090605060D06020702" pitchFamily="82" charset="0"/>
            </a:endParaRPr>
          </a:p>
        </p:txBody>
      </p:sp>
      <p:pic>
        <p:nvPicPr>
          <p:cNvPr id="4" name="Picture 3">
            <a:extLst>
              <a:ext uri="{FF2B5EF4-FFF2-40B4-BE49-F238E27FC236}">
                <a16:creationId xmlns:a16="http://schemas.microsoft.com/office/drawing/2014/main" id="{750B193E-662E-FAC9-529D-FA3E8A37F653}"/>
              </a:ext>
            </a:extLst>
          </p:cNvPr>
          <p:cNvPicPr>
            <a:picLocks noChangeAspect="1"/>
          </p:cNvPicPr>
          <p:nvPr/>
        </p:nvPicPr>
        <p:blipFill>
          <a:blip r:embed="rId4"/>
          <a:stretch>
            <a:fillRect/>
          </a:stretch>
        </p:blipFill>
        <p:spPr>
          <a:xfrm>
            <a:off x="9065706" y="-19664"/>
            <a:ext cx="3126294" cy="7374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56381014"/>
      </p:ext>
    </p:extLst>
  </p:cSld>
  <p:clrMapOvr>
    <a:masterClrMapping/>
  </p:clrMapOvr>
  <p:transition spd="slow">
    <p:push dir="u"/>
    <p:sndAc>
      <p:stSnd>
        <p:snd r:embed="rId2"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D6686-3ED4-9DA5-0511-014DA7D5F4BB}"/>
              </a:ext>
            </a:extLst>
          </p:cNvPr>
          <p:cNvSpPr>
            <a:spLocks noGrp="1"/>
          </p:cNvSpPr>
          <p:nvPr>
            <p:ph type="title"/>
          </p:nvPr>
        </p:nvSpPr>
        <p:spPr>
          <a:xfrm>
            <a:off x="1" y="353961"/>
            <a:ext cx="13676460" cy="7275859"/>
          </a:xfrm>
        </p:spPr>
        <p:txBody>
          <a:bodyPr>
            <a:noAutofit/>
          </a:bodyPr>
          <a:lstStyle/>
          <a:p>
            <a:pPr algn="l"/>
            <a:r>
              <a:rPr lang="en-US" b="1" u="sng"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WORK PLAN</a:t>
            </a:r>
            <a:r>
              <a:rPr lang="en-US" sz="2400" b="1" u="sng"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a:t>
            </a:r>
            <a:br>
              <a:rPr lang="en-US" sz="2400" b="1" u="sng"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1</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.The customer must open "The cafe club" Webpage.</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2</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.The customer must register his/her id and credentials to the page.</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3</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.Order portal of the coffee club will be opened. </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4</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.Customer should fill in the required order in the portals of the food items.</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5</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.Customer should click on the cost button. </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6</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The Receipt of the food items ordered will appear with their prices and the tax added.</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7</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.If you want to change your order then kindly click on the "RESET" button given below. </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8</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.On clicking the button "PRICES' interface will show the list of food items with their prices as of Quantity 1.</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9</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.For more information contact kindly visit! The Coffee Club" website on </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err="1">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facebook</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The coffee club -02</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Instagram </a:t>
            </a: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The coffee club-02</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Thank you!!! for your order please review on our website.</a:t>
            </a:r>
            <a:b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a:t>
            </a:r>
            <a:b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r>
              <a:rPr lang="en-US"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HOPE TO SEE YOU AGAIN!!</a:t>
            </a:r>
            <a:br>
              <a:rPr lang="en-IN" sz="2400" b="1"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br>
            <a:endParaRPr lang="en-IN" sz="2400" dirty="0"/>
          </a:p>
        </p:txBody>
      </p:sp>
      <p:pic>
        <p:nvPicPr>
          <p:cNvPr id="3" name="Picture 2">
            <a:extLst>
              <a:ext uri="{FF2B5EF4-FFF2-40B4-BE49-F238E27FC236}">
                <a16:creationId xmlns:a16="http://schemas.microsoft.com/office/drawing/2014/main" id="{15750741-AAE8-EB17-A5C0-58B308FBFE33}"/>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99614989"/>
      </p:ext>
    </p:extLst>
  </p:cSld>
  <p:clrMapOvr>
    <a:masterClrMapping/>
  </p:clrMapOvr>
  <p:transition spd="slow">
    <p:push dir="u"/>
    <p:sndAc>
      <p:stSnd>
        <p:snd r:embed="rId2"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401027-01CA-1F7D-4F20-6FB4A759D8B0}"/>
              </a:ext>
            </a:extLst>
          </p:cNvPr>
          <p:cNvSpPr/>
          <p:nvPr/>
        </p:nvSpPr>
        <p:spPr>
          <a:xfrm>
            <a:off x="1783498" y="0"/>
            <a:ext cx="10406743" cy="685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b="1" u="sng" dirty="0">
                <a:latin typeface="Arial Black" panose="020B0A04020102020204" pitchFamily="34" charset="0"/>
              </a:rPr>
              <a:t>Achievement and Outcomes </a:t>
            </a:r>
          </a:p>
          <a:p>
            <a:endParaRPr lang="en-US" sz="2000" dirty="0"/>
          </a:p>
          <a:p>
            <a:r>
              <a:rPr lang="en-US" sz="2000" dirty="0"/>
              <a:t>The Project is identified by the merits of the system offered to the user. The achievements of this project are as follows:-&gt;</a:t>
            </a:r>
          </a:p>
          <a:p>
            <a:r>
              <a:rPr lang="en-US" sz="2000" dirty="0"/>
              <a:t> It's a Desktop-based enabled project.</a:t>
            </a:r>
          </a:p>
          <a:p>
            <a:pPr marL="342900" indent="-342900">
              <a:buFont typeface="Wingdings" panose="05000000000000000000" pitchFamily="2" charset="2"/>
              <a:buChar char="Ø"/>
            </a:pPr>
            <a:r>
              <a:rPr lang="en-US" sz="2000" dirty="0"/>
              <a:t>This project offers user to enter the data through simple and interactive forms. This is very helpful for the client to enter the desired information through so much simplicity.</a:t>
            </a:r>
          </a:p>
          <a:p>
            <a:pPr marL="342900" indent="-342900">
              <a:buFont typeface="Wingdings" panose="05000000000000000000" pitchFamily="2" charset="2"/>
              <a:buChar char="Ø"/>
            </a:pPr>
            <a:r>
              <a:rPr lang="en-US" sz="2000" dirty="0"/>
              <a:t> The user is mainly more concerned about the validity of the data, where he is entering. There are checks on every stages of any new creation, data entry or updating so that the user cannot enter invalid data which can create problems at later date.</a:t>
            </a:r>
          </a:p>
          <a:p>
            <a:pPr marL="342900" indent="-342900">
              <a:buFont typeface="Wingdings" panose="05000000000000000000" pitchFamily="2" charset="2"/>
              <a:buChar char="Ø"/>
            </a:pPr>
            <a:r>
              <a:rPr lang="en-US" sz="2000" dirty="0"/>
              <a:t>Sometimes the user finds in the later stages of using project that he needs to update some of the information that he entered earlier. There are options for him by which he can update the records. Moreover, there is restriction for his that he cannot change the primary data field this keeps the validity of the data to longer extent.</a:t>
            </a:r>
            <a:endParaRPr lang="en-IN" sz="2000" dirty="0"/>
          </a:p>
        </p:txBody>
      </p:sp>
      <p:pic>
        <p:nvPicPr>
          <p:cNvPr id="3" name="Picture 2">
            <a:extLst>
              <a:ext uri="{FF2B5EF4-FFF2-40B4-BE49-F238E27FC236}">
                <a16:creationId xmlns:a16="http://schemas.microsoft.com/office/drawing/2014/main" id="{1AEE349D-3548-A2F0-B996-35E8B14D3118}"/>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587616512"/>
      </p:ext>
    </p:extLst>
  </p:cSld>
  <p:clrMapOvr>
    <a:masterClrMapping/>
  </p:clrMapOvr>
  <p:transition spd="slow">
    <p:push dir="u"/>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95E36-006F-51CF-91A2-BC4BE6B3409D}"/>
              </a:ext>
            </a:extLst>
          </p:cNvPr>
          <p:cNvSpPr>
            <a:spLocks noGrp="1"/>
          </p:cNvSpPr>
          <p:nvPr>
            <p:ph type="title"/>
          </p:nvPr>
        </p:nvSpPr>
        <p:spPr>
          <a:xfrm>
            <a:off x="0" y="0"/>
            <a:ext cx="12192000" cy="5758543"/>
          </a:xfrm>
        </p:spPr>
        <p:txBody>
          <a:bodyPr>
            <a:noAutofit/>
          </a:bodyPr>
          <a:lstStyle/>
          <a:p>
            <a:r>
              <a:rPr lang="en-US" sz="3200" b="1" dirty="0">
                <a:latin typeface="Arial Black" panose="020B0A04020102020204" pitchFamily="34" charset="0"/>
              </a:rPr>
              <a:t>               </a:t>
            </a:r>
            <a:r>
              <a:rPr lang="en-US" sz="3600" b="1" u="sng" dirty="0">
                <a:latin typeface="Arial Black" panose="020B0A04020102020204" pitchFamily="34" charset="0"/>
              </a:rPr>
              <a:t>     PURPOSE &amp; SCOPE</a:t>
            </a:r>
            <a:br>
              <a:rPr lang="en-US" sz="1800" dirty="0"/>
            </a:br>
            <a:br>
              <a:rPr lang="en-US" sz="1800" b="1" dirty="0">
                <a:latin typeface="+mn-lt"/>
              </a:rPr>
            </a:br>
            <a:r>
              <a:rPr lang="en-US" sz="2800" b="1" u="sng" dirty="0">
                <a:latin typeface="+mn-lt"/>
              </a:rPr>
              <a:t>Purpose</a:t>
            </a:r>
            <a:br>
              <a:rPr lang="en-US" sz="1800" dirty="0"/>
            </a:br>
            <a:r>
              <a:rPr lang="en-US" sz="2400" dirty="0"/>
              <a:t>The main purpose preparing these documents is to give a general insight into the analysis and requirements of the existing system or situation and for determining the operating characteristics of the system. The proposed software will solve all the problem they are facing now. This software is designed such way that it will generate the bill automatically every order in time. So there not much worries.</a:t>
            </a:r>
            <a:br>
              <a:rPr lang="en-US" sz="2400" dirty="0"/>
            </a:br>
            <a:r>
              <a:rPr lang="en-US" sz="2400" dirty="0"/>
              <a:t>This being a Desktop based application is very easy to access. Data and Records are managed in centralized database. Data is secure and easy to retrieve, store, and analysis, so chances of miscalculations and occurrence of error are very less.</a:t>
            </a:r>
            <a:endParaRPr lang="en-IN" sz="2400" dirty="0"/>
          </a:p>
        </p:txBody>
      </p:sp>
      <p:pic>
        <p:nvPicPr>
          <p:cNvPr id="3" name="Picture 2">
            <a:extLst>
              <a:ext uri="{FF2B5EF4-FFF2-40B4-BE49-F238E27FC236}">
                <a16:creationId xmlns:a16="http://schemas.microsoft.com/office/drawing/2014/main" id="{35ACA0CC-58A5-4D79-738E-68E181D40146}"/>
              </a:ext>
            </a:extLst>
          </p:cNvPr>
          <p:cNvPicPr>
            <a:picLocks noChangeAspect="1"/>
          </p:cNvPicPr>
          <p:nvPr/>
        </p:nvPicPr>
        <p:blipFill>
          <a:blip r:embed="rId3"/>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03207766"/>
      </p:ext>
    </p:extLst>
  </p:cSld>
  <p:clrMapOvr>
    <a:masterClrMapping/>
  </p:clrMapOvr>
  <p:transition spd="slow">
    <p:push dir="u"/>
    <p:sndAc>
      <p:stSnd>
        <p:snd r:embed="rId2"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8DF0FA-996B-7C67-9C7F-C8E379C45863}"/>
              </a:ext>
            </a:extLst>
          </p:cNvPr>
          <p:cNvPicPr>
            <a:picLocks noChangeAspect="1"/>
          </p:cNvPicPr>
          <p:nvPr/>
        </p:nvPicPr>
        <p:blipFill>
          <a:blip r:embed="rId3">
            <a:alphaModFix amt="20000"/>
          </a:blip>
          <a:stretch>
            <a:fillRect/>
          </a:stretch>
        </p:blipFill>
        <p:spPr>
          <a:xfrm>
            <a:off x="-19666" y="-12"/>
            <a:ext cx="12191999" cy="6858012"/>
          </a:xfrm>
          <a:prstGeom prst="rect">
            <a:avLst/>
          </a:prstGeom>
          <a:ln>
            <a:noFill/>
          </a:ln>
          <a:effectLst>
            <a:softEdge rad="112500"/>
          </a:effectLst>
        </p:spPr>
      </p:pic>
      <p:sp>
        <p:nvSpPr>
          <p:cNvPr id="2" name="Title 1">
            <a:extLst>
              <a:ext uri="{FF2B5EF4-FFF2-40B4-BE49-F238E27FC236}">
                <a16:creationId xmlns:a16="http://schemas.microsoft.com/office/drawing/2014/main" id="{E9095E36-006F-51CF-91A2-BC4BE6B3409D}"/>
              </a:ext>
            </a:extLst>
          </p:cNvPr>
          <p:cNvSpPr>
            <a:spLocks noGrp="1"/>
          </p:cNvSpPr>
          <p:nvPr>
            <p:ph type="title"/>
          </p:nvPr>
        </p:nvSpPr>
        <p:spPr>
          <a:xfrm>
            <a:off x="0" y="904568"/>
            <a:ext cx="12191999" cy="4853975"/>
          </a:xfrm>
        </p:spPr>
        <p:txBody>
          <a:bodyPr>
            <a:noAutofit/>
          </a:bodyPr>
          <a:lstStyle/>
          <a:p>
            <a:r>
              <a:rPr lang="en-US" sz="4400" b="1" dirty="0">
                <a:latin typeface="Algerian" panose="04020705040A02060702" pitchFamily="82" charset="0"/>
              </a:rPr>
              <a:t>                             Scope</a:t>
            </a:r>
            <a:br>
              <a:rPr lang="en-US" sz="2400" dirty="0"/>
            </a:br>
            <a:r>
              <a:rPr lang="en-US" sz="2400" b="1" dirty="0"/>
              <a:t>This system will help to manage and run the café shop systematically. In this management system, we will provide an app that can be used by cafe's employee to take order. </a:t>
            </a:r>
            <a:br>
              <a:rPr lang="en-US" sz="2400" b="1" dirty="0"/>
            </a:br>
            <a:r>
              <a:rPr lang="en-US" sz="2400" b="1" dirty="0"/>
              <a:t>So that owner of shop can evaluates the whole system. This will ultimately lead to hire less waiters and create and opportunity to appoint more chefs and better shop to serve coffee faster. Employee can take payment which will managed into the software</a:t>
            </a:r>
            <a:r>
              <a:rPr lang="en-US" sz="2400" dirty="0"/>
              <a:t>.</a:t>
            </a:r>
            <a:endParaRPr lang="en-IN" sz="2400" dirty="0"/>
          </a:p>
        </p:txBody>
      </p:sp>
      <p:pic>
        <p:nvPicPr>
          <p:cNvPr id="3" name="Picture 2">
            <a:extLst>
              <a:ext uri="{FF2B5EF4-FFF2-40B4-BE49-F238E27FC236}">
                <a16:creationId xmlns:a16="http://schemas.microsoft.com/office/drawing/2014/main" id="{CDC2CDD0-6017-4E4F-C8D9-879E82EC0C35}"/>
              </a:ext>
            </a:extLst>
          </p:cNvPr>
          <p:cNvPicPr>
            <a:picLocks noChangeAspect="1"/>
          </p:cNvPicPr>
          <p:nvPr/>
        </p:nvPicPr>
        <p:blipFill>
          <a:blip r:embed="rId4"/>
          <a:stretch>
            <a:fillRect/>
          </a:stretch>
        </p:blipFill>
        <p:spPr>
          <a:xfrm>
            <a:off x="9065706" y="-19664"/>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88661347"/>
      </p:ext>
    </p:extLst>
  </p:cSld>
  <p:clrMapOvr>
    <a:masterClrMapping/>
  </p:clrMapOvr>
  <p:transition spd="slow">
    <p:push dir="u"/>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C6EF-2EEB-54B2-F952-DA430CC3EBF6}"/>
              </a:ext>
            </a:extLst>
          </p:cNvPr>
          <p:cNvSpPr>
            <a:spLocks noGrp="1"/>
          </p:cNvSpPr>
          <p:nvPr>
            <p:ph type="ctrTitle"/>
          </p:nvPr>
        </p:nvSpPr>
        <p:spPr>
          <a:xfrm>
            <a:off x="0" y="0"/>
            <a:ext cx="10633746" cy="1641987"/>
          </a:xfrm>
        </p:spPr>
        <p:txBody>
          <a:bodyPr>
            <a:normAutofit fontScale="90000"/>
          </a:bodyPr>
          <a:lstStyle/>
          <a:p>
            <a:r>
              <a:rPr lang="en-US" sz="5400" b="1" dirty="0">
                <a:solidFill>
                  <a:schemeClr val="tx1"/>
                </a:solidFill>
                <a:latin typeface="Algerian" panose="04020705040A02060702" pitchFamily="82" charset="0"/>
              </a:rPr>
              <a:t>Motivation &gt;</a:t>
            </a:r>
            <a:br>
              <a:rPr lang="en-US" sz="5400" b="1" dirty="0">
                <a:latin typeface="Algerian" panose="04020705040A02060702" pitchFamily="82" charset="0"/>
              </a:rPr>
            </a:br>
            <a:endParaRPr lang="en-IN" dirty="0"/>
          </a:p>
        </p:txBody>
      </p:sp>
      <p:sp>
        <p:nvSpPr>
          <p:cNvPr id="3" name="Subtitle 2">
            <a:extLst>
              <a:ext uri="{FF2B5EF4-FFF2-40B4-BE49-F238E27FC236}">
                <a16:creationId xmlns:a16="http://schemas.microsoft.com/office/drawing/2014/main" id="{8ACBAAB6-A56C-875E-E4A5-6EE3D32551D1}"/>
              </a:ext>
            </a:extLst>
          </p:cNvPr>
          <p:cNvSpPr>
            <a:spLocks noGrp="1"/>
          </p:cNvSpPr>
          <p:nvPr>
            <p:ph type="subTitle" idx="1"/>
          </p:nvPr>
        </p:nvSpPr>
        <p:spPr>
          <a:xfrm>
            <a:off x="302088" y="2333576"/>
            <a:ext cx="11524073" cy="1878683"/>
          </a:xfrm>
        </p:spPr>
        <p:txBody>
          <a:bodyPr>
            <a:noAutofit/>
          </a:bodyPr>
          <a:lstStyle/>
          <a:p>
            <a:pPr algn="l"/>
            <a:r>
              <a:rPr lang="en-US" sz="2800" b="1" dirty="0"/>
              <a:t>The Coffee Club is guaranteed to become the daily necessity for all. A place with good ambience where people can </a:t>
            </a:r>
            <a:r>
              <a:rPr lang="en-US" sz="2800" b="1" dirty="0" err="1"/>
              <a:t>extempt</a:t>
            </a:r>
            <a:r>
              <a:rPr lang="en-US" sz="2800" b="1" dirty="0"/>
              <a:t> from their daily stress and cherish delicious food. Our club offers home style delicious food. We have many branches in many cities. We have a romantic ambience which attracts youth. Our club has spectacular interior designs with stupendous taste. We have attached our menu which contains food at attractive prices. We have also analyzed our opportunities and threats from the external environment</a:t>
            </a:r>
            <a:endParaRPr lang="en-IN" sz="2800" dirty="0"/>
          </a:p>
        </p:txBody>
      </p:sp>
      <p:pic>
        <p:nvPicPr>
          <p:cNvPr id="4" name="Picture 3">
            <a:extLst>
              <a:ext uri="{FF2B5EF4-FFF2-40B4-BE49-F238E27FC236}">
                <a16:creationId xmlns:a16="http://schemas.microsoft.com/office/drawing/2014/main" id="{C5AC656E-3816-8E9B-17A7-0A780D7E94E3}"/>
              </a:ext>
            </a:extLst>
          </p:cNvPr>
          <p:cNvPicPr>
            <a:picLocks noChangeAspect="1"/>
          </p:cNvPicPr>
          <p:nvPr/>
        </p:nvPicPr>
        <p:blipFill>
          <a:blip r:embed="rId3"/>
          <a:stretch>
            <a:fillRect/>
          </a:stretch>
        </p:blipFill>
        <p:spPr>
          <a:xfrm>
            <a:off x="9065706" y="0"/>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30269380"/>
      </p:ext>
    </p:extLst>
  </p:cSld>
  <p:clrMapOvr>
    <a:masterClrMapping/>
  </p:clrMapOvr>
  <p:transition spd="slow">
    <p:push dir="u"/>
    <p:sndAc>
      <p:stSnd>
        <p:snd r:embed="rId2"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BBB0A-C12C-C9FE-A48D-8828E95CB4D2}"/>
              </a:ext>
            </a:extLst>
          </p:cNvPr>
          <p:cNvSpPr>
            <a:spLocks noGrp="1"/>
          </p:cNvSpPr>
          <p:nvPr>
            <p:ph type="title" idx="4294967295"/>
          </p:nvPr>
        </p:nvSpPr>
        <p:spPr>
          <a:xfrm>
            <a:off x="0" y="-863600"/>
            <a:ext cx="12030075" cy="3171825"/>
          </a:xfrm>
          <a:noFill/>
        </p:spPr>
        <p:txBody>
          <a:bodyPr>
            <a:normAutofit/>
          </a:bodyPr>
          <a:lstStyle/>
          <a:p>
            <a:pPr algn="ctr"/>
            <a:r>
              <a:rPr lang="en-US" sz="8000" u="sng" dirty="0">
                <a:solidFill>
                  <a:schemeClr val="tx1"/>
                </a:solidFill>
                <a:effectLst>
                  <a:outerShdw blurRad="38100" dist="38100" dir="2700000" algn="tl">
                    <a:srgbClr val="000000">
                      <a:alpha val="43137"/>
                    </a:srgbClr>
                  </a:outerShdw>
                </a:effectLst>
                <a:latin typeface="Algerian" panose="04020705040A02060702" pitchFamily="82" charset="0"/>
              </a:rPr>
              <a:t>reference</a:t>
            </a:r>
            <a:endParaRPr lang="en-IN" sz="8000" u="sng" dirty="0">
              <a:solidFill>
                <a:schemeClr val="tx1"/>
              </a:solidFill>
              <a:effectLst>
                <a:outerShdw blurRad="38100" dist="38100" dir="2700000" algn="tl">
                  <a:srgbClr val="000000">
                    <a:alpha val="43137"/>
                  </a:srgbClr>
                </a:outerShdw>
              </a:effectLst>
              <a:latin typeface="Algerian" panose="04020705040A02060702" pitchFamily="82" charset="0"/>
            </a:endParaRPr>
          </a:p>
        </p:txBody>
      </p:sp>
      <p:sp>
        <p:nvSpPr>
          <p:cNvPr id="3" name="Text Placeholder 2">
            <a:extLst>
              <a:ext uri="{FF2B5EF4-FFF2-40B4-BE49-F238E27FC236}">
                <a16:creationId xmlns:a16="http://schemas.microsoft.com/office/drawing/2014/main" id="{473C26F9-F7D6-AAE3-EC56-1887448E3A7F}"/>
              </a:ext>
            </a:extLst>
          </p:cNvPr>
          <p:cNvSpPr>
            <a:spLocks noGrp="1"/>
          </p:cNvSpPr>
          <p:nvPr>
            <p:ph type="body" idx="4294967295"/>
          </p:nvPr>
        </p:nvSpPr>
        <p:spPr>
          <a:xfrm>
            <a:off x="0" y="2713038"/>
            <a:ext cx="11242675" cy="4144962"/>
          </a:xfrm>
        </p:spPr>
        <p:txBody>
          <a:bodyPr>
            <a:noAutofit/>
          </a:bodyPr>
          <a:lstStyle/>
          <a:p>
            <a:r>
              <a:rPr lang="en-IN" b="1" dirty="0">
                <a:solidFill>
                  <a:schemeClr val="tx1">
                    <a:lumMod val="65000"/>
                  </a:schemeClr>
                </a:solidFill>
                <a:hlinkClick r:id="rId3">
                  <a:extLst>
                    <a:ext uri="{A12FA001-AC4F-418D-AE19-62706E023703}">
                      <ahyp:hlinkClr xmlns:ahyp="http://schemas.microsoft.com/office/drawing/2018/hyperlinkcolor" val="tx"/>
                    </a:ext>
                  </a:extLst>
                </a:hlinkClick>
              </a:rPr>
              <a:t>https://sourcecodehero.com/cafe-management-system-project-in-python-with-source-code/#h-cafe-management-system-project-in-python-project-output</a:t>
            </a:r>
            <a:endParaRPr lang="en-IN" b="1" dirty="0">
              <a:solidFill>
                <a:schemeClr val="tx1">
                  <a:lumMod val="65000"/>
                </a:schemeClr>
              </a:solidFill>
            </a:endParaRPr>
          </a:p>
          <a:p>
            <a:endParaRPr lang="en-IN" b="1" dirty="0"/>
          </a:p>
          <a:p>
            <a:r>
              <a:rPr lang="en-IN" sz="2400" b="1" u="sng" dirty="0"/>
              <a:t>Research papers</a:t>
            </a:r>
          </a:p>
          <a:p>
            <a:endParaRPr lang="en-IN" sz="2400" b="1" u="sng" dirty="0"/>
          </a:p>
          <a:p>
            <a:r>
              <a:rPr lang="en-IN" sz="2400" b="1" dirty="0"/>
              <a:t>Lab mentor</a:t>
            </a:r>
          </a:p>
          <a:p>
            <a:pPr marL="342900" indent="-342900">
              <a:buFont typeface="Courier New" panose="02070309020205020404" pitchFamily="49" charset="0"/>
              <a:buChar char="o"/>
            </a:pPr>
            <a:r>
              <a:rPr lang="en-IN" sz="2400" b="1" dirty="0"/>
              <a:t>   </a:t>
            </a:r>
            <a:r>
              <a:rPr lang="en-IN" sz="2400" b="1" dirty="0" err="1"/>
              <a:t>Dr.</a:t>
            </a:r>
            <a:r>
              <a:rPr lang="en-IN" sz="2400" b="1" dirty="0"/>
              <a:t> Anu Priya </a:t>
            </a:r>
          </a:p>
          <a:p>
            <a:pPr marL="342900" indent="-342900">
              <a:buFont typeface="Courier New" panose="02070309020205020404" pitchFamily="49" charset="0"/>
              <a:buChar char="o"/>
            </a:pPr>
            <a:r>
              <a:rPr lang="en-IN" sz="2400" b="1" dirty="0"/>
              <a:t>   Ms. </a:t>
            </a:r>
            <a:r>
              <a:rPr lang="en-IN" sz="2400" b="1" dirty="0" err="1"/>
              <a:t>Nabanita</a:t>
            </a:r>
            <a:r>
              <a:rPr lang="en-IN" sz="2400" b="1" dirty="0"/>
              <a:t> Roy  </a:t>
            </a:r>
          </a:p>
          <a:p>
            <a:pPr marL="285750" indent="-285750">
              <a:buFont typeface="Courier New" panose="02070309020205020404" pitchFamily="49" charset="0"/>
              <a:buChar char="o"/>
            </a:pPr>
            <a:endParaRPr lang="en-IN" b="1" dirty="0"/>
          </a:p>
          <a:p>
            <a:endParaRPr lang="en-IN" b="1" dirty="0"/>
          </a:p>
          <a:p>
            <a:endParaRPr lang="en-IN" b="1" dirty="0"/>
          </a:p>
          <a:p>
            <a:endParaRPr lang="en-IN" b="1" dirty="0"/>
          </a:p>
          <a:p>
            <a:endParaRPr lang="en-IN" b="1" dirty="0"/>
          </a:p>
        </p:txBody>
      </p:sp>
      <p:pic>
        <p:nvPicPr>
          <p:cNvPr id="5" name="Picture 4" descr="Image result for chitkara university">
            <a:extLst>
              <a:ext uri="{FF2B5EF4-FFF2-40B4-BE49-F238E27FC236}">
                <a16:creationId xmlns:a16="http://schemas.microsoft.com/office/drawing/2014/main" id="{AB836AD5-078C-032C-7F50-6107756088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609355" y="1024"/>
            <a:ext cx="1575435" cy="1295400"/>
          </a:xfrm>
          <a:prstGeom prst="rect">
            <a:avLst/>
          </a:prstGeom>
          <a:noFill/>
          <a:ln>
            <a:noFill/>
          </a:ln>
        </p:spPr>
      </p:pic>
    </p:spTree>
    <p:extLst>
      <p:ext uri="{BB962C8B-B14F-4D97-AF65-F5344CB8AC3E}">
        <p14:creationId xmlns:p14="http://schemas.microsoft.com/office/powerpoint/2010/main" val="32531704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sndAc>
          <p:stSnd>
            <p:snd r:embed="rId2" name="click.wav"/>
          </p:stSnd>
        </p:sndAc>
      </p:transition>
    </mc:Choice>
    <mc:Fallback xmlns="">
      <p:transition spd="slow">
        <p:fade/>
        <p:sndAc>
          <p:stSnd>
            <p:snd r:embed="rId5" name="click.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arn(inVertical)">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arn(inVertic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arn(inVertical)">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DD884-70A8-A132-3909-8C40095F68C0}"/>
              </a:ext>
            </a:extLst>
          </p:cNvPr>
          <p:cNvSpPr>
            <a:spLocks noGrp="1"/>
          </p:cNvSpPr>
          <p:nvPr>
            <p:ph type="title"/>
          </p:nvPr>
        </p:nvSpPr>
        <p:spPr>
          <a:xfrm>
            <a:off x="0" y="0"/>
            <a:ext cx="10353762" cy="970450"/>
          </a:xfrm>
        </p:spPr>
        <p:txBody>
          <a:bodyPr/>
          <a:lstStyle/>
          <a:p>
            <a:pPr marL="571500" indent="-571500" algn="l">
              <a:buFont typeface="Wingdings" panose="05000000000000000000" pitchFamily="2" charset="2"/>
              <a:buChar char="§"/>
            </a:pPr>
            <a:r>
              <a:rPr lang="en-US" dirty="0">
                <a:latin typeface="Berlin Sans FB Demi" panose="020E0802020502020306" pitchFamily="34" charset="0"/>
              </a:rPr>
              <a:t>BILLING MANAGEMENT </a:t>
            </a:r>
            <a:endParaRPr lang="en-IN" dirty="0">
              <a:latin typeface="Berlin Sans FB Demi" panose="020E0802020502020306" pitchFamily="34" charset="0"/>
            </a:endParaRPr>
          </a:p>
        </p:txBody>
      </p:sp>
      <p:pic>
        <p:nvPicPr>
          <p:cNvPr id="3" name="Picture 2">
            <a:extLst>
              <a:ext uri="{FF2B5EF4-FFF2-40B4-BE49-F238E27FC236}">
                <a16:creationId xmlns:a16="http://schemas.microsoft.com/office/drawing/2014/main" id="{E5BB67D6-958B-0CF0-16ED-B33D74784A7F}"/>
              </a:ext>
            </a:extLst>
          </p:cNvPr>
          <p:cNvPicPr>
            <a:picLocks noChangeAspect="1"/>
          </p:cNvPicPr>
          <p:nvPr/>
        </p:nvPicPr>
        <p:blipFill>
          <a:blip r:embed="rId3"/>
          <a:stretch>
            <a:fillRect/>
          </a:stretch>
        </p:blipFill>
        <p:spPr>
          <a:xfrm>
            <a:off x="9065706" y="0"/>
            <a:ext cx="3126294" cy="99305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5" name="Picture 4">
            <a:extLst>
              <a:ext uri="{FF2B5EF4-FFF2-40B4-BE49-F238E27FC236}">
                <a16:creationId xmlns:a16="http://schemas.microsoft.com/office/drawing/2014/main" id="{F450FD8C-0B81-C836-278F-96DC1EE761BF}"/>
              </a:ext>
            </a:extLst>
          </p:cNvPr>
          <p:cNvPicPr>
            <a:picLocks noChangeAspect="1"/>
          </p:cNvPicPr>
          <p:nvPr/>
        </p:nvPicPr>
        <p:blipFill>
          <a:blip r:embed="rId4"/>
          <a:stretch>
            <a:fillRect/>
          </a:stretch>
        </p:blipFill>
        <p:spPr>
          <a:xfrm>
            <a:off x="5702710" y="1132556"/>
            <a:ext cx="6503996" cy="5700866"/>
          </a:xfrm>
          <a:prstGeom prst="rect">
            <a:avLst/>
          </a:prstGeom>
        </p:spPr>
      </p:pic>
      <p:pic>
        <p:nvPicPr>
          <p:cNvPr id="7" name="Picture 6">
            <a:extLst>
              <a:ext uri="{FF2B5EF4-FFF2-40B4-BE49-F238E27FC236}">
                <a16:creationId xmlns:a16="http://schemas.microsoft.com/office/drawing/2014/main" id="{8956CB6D-BE8B-6C37-496E-CE909C464283}"/>
              </a:ext>
            </a:extLst>
          </p:cNvPr>
          <p:cNvPicPr>
            <a:picLocks noChangeAspect="1"/>
          </p:cNvPicPr>
          <p:nvPr/>
        </p:nvPicPr>
        <p:blipFill>
          <a:blip r:embed="rId5"/>
          <a:stretch>
            <a:fillRect/>
          </a:stretch>
        </p:blipFill>
        <p:spPr>
          <a:xfrm>
            <a:off x="0" y="1132557"/>
            <a:ext cx="5702709" cy="5700866"/>
          </a:xfrm>
          <a:prstGeom prst="rect">
            <a:avLst/>
          </a:prstGeom>
        </p:spPr>
      </p:pic>
      <p:cxnSp>
        <p:nvCxnSpPr>
          <p:cNvPr id="9" name="Straight Connector 8">
            <a:extLst>
              <a:ext uri="{FF2B5EF4-FFF2-40B4-BE49-F238E27FC236}">
                <a16:creationId xmlns:a16="http://schemas.microsoft.com/office/drawing/2014/main" id="{280B0E19-7AF2-D5C0-B81C-BE1A066BFAC7}"/>
              </a:ext>
            </a:extLst>
          </p:cNvPr>
          <p:cNvCxnSpPr/>
          <p:nvPr/>
        </p:nvCxnSpPr>
        <p:spPr>
          <a:xfrm>
            <a:off x="5919019" y="8849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FFA52FC-9B39-CA53-1F73-433DA5AECD31}"/>
              </a:ext>
            </a:extLst>
          </p:cNvPr>
          <p:cNvCxnSpPr/>
          <p:nvPr/>
        </p:nvCxnSpPr>
        <p:spPr>
          <a:xfrm>
            <a:off x="0" y="1132556"/>
            <a:ext cx="12206706" cy="0"/>
          </a:xfrm>
          <a:prstGeom prst="line">
            <a:avLst/>
          </a:prstGeom>
          <a:ln>
            <a:solidFill>
              <a:schemeClr val="tx1">
                <a:lumMod val="65000"/>
              </a:schemeClr>
            </a:solidFill>
          </a:ln>
        </p:spPr>
        <p:style>
          <a:lnRef idx="3">
            <a:schemeClr val="accent3"/>
          </a:lnRef>
          <a:fillRef idx="0">
            <a:schemeClr val="accent3"/>
          </a:fillRef>
          <a:effectRef idx="2">
            <a:schemeClr val="accent3"/>
          </a:effectRef>
          <a:fontRef idx="minor">
            <a:schemeClr val="tx1"/>
          </a:fontRef>
        </p:style>
      </p:cxnSp>
      <p:cxnSp>
        <p:nvCxnSpPr>
          <p:cNvPr id="13" name="Straight Connector 12">
            <a:extLst>
              <a:ext uri="{FF2B5EF4-FFF2-40B4-BE49-F238E27FC236}">
                <a16:creationId xmlns:a16="http://schemas.microsoft.com/office/drawing/2014/main" id="{EA97E9F9-040D-F1A4-F4F6-17119B7D1726}"/>
              </a:ext>
            </a:extLst>
          </p:cNvPr>
          <p:cNvCxnSpPr>
            <a:cxnSpLocks/>
          </p:cNvCxnSpPr>
          <p:nvPr/>
        </p:nvCxnSpPr>
        <p:spPr>
          <a:xfrm>
            <a:off x="5181600" y="1132556"/>
            <a:ext cx="36000" cy="5688000"/>
          </a:xfrm>
          <a:prstGeom prst="line">
            <a:avLst/>
          </a:prstGeom>
          <a:ln>
            <a:solidFill>
              <a:schemeClr val="tx1">
                <a:lumMod val="95000"/>
              </a:schemeClr>
            </a:solidFill>
          </a:ln>
          <a:effectLst>
            <a:glow rad="63500">
              <a:schemeClr val="accent3">
                <a:satMod val="175000"/>
                <a:alpha val="40000"/>
              </a:schemeClr>
            </a:glow>
            <a:innerShdw blurRad="63500" dist="50800" dir="18900000">
              <a:prstClr val="black">
                <a:alpha val="50000"/>
              </a:prstClr>
            </a:innerShdw>
          </a:effectLst>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179209564"/>
      </p:ext>
    </p:extLst>
  </p:cSld>
  <p:clrMapOvr>
    <a:masterClrMapping/>
  </p:clrMapOvr>
  <p:transition spd="slow">
    <p:push dir="u"/>
    <p:sndAc>
      <p:stSnd>
        <p:snd r:embed="rId2"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A0ACA5-EEB5-76F2-CFCC-149F19607DE7}"/>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061378A-7FDF-161B-5B69-BA1C0A894C25}"/>
              </a:ext>
            </a:extLst>
          </p:cNvPr>
          <p:cNvSpPr txBox="1"/>
          <p:nvPr/>
        </p:nvSpPr>
        <p:spPr>
          <a:xfrm>
            <a:off x="2762865" y="1622323"/>
            <a:ext cx="6774426" cy="2585323"/>
          </a:xfrm>
          <a:prstGeom prst="rect">
            <a:avLst/>
          </a:prstGeom>
          <a:noFill/>
        </p:spPr>
        <p:txBody>
          <a:bodyPr wrap="square" rtlCol="0">
            <a:spAutoFit/>
          </a:bodyPr>
          <a:lstStyle/>
          <a:p>
            <a:r>
              <a:rPr lang="en-IN" sz="5400" dirty="0">
                <a:latin typeface="Algerian" panose="04020705040A02060702" pitchFamily="82" charset="0"/>
              </a:rPr>
              <a:t> CAFÉ MANAGEMENT           SYSTEM</a:t>
            </a:r>
          </a:p>
        </p:txBody>
      </p:sp>
      <p:cxnSp>
        <p:nvCxnSpPr>
          <p:cNvPr id="8" name="Straight Connector 7">
            <a:extLst>
              <a:ext uri="{FF2B5EF4-FFF2-40B4-BE49-F238E27FC236}">
                <a16:creationId xmlns:a16="http://schemas.microsoft.com/office/drawing/2014/main" id="{E9EC70F0-2C9F-95D3-7297-32D058E1187F}"/>
              </a:ext>
            </a:extLst>
          </p:cNvPr>
          <p:cNvCxnSpPr>
            <a:cxnSpLocks/>
          </p:cNvCxnSpPr>
          <p:nvPr/>
        </p:nvCxnSpPr>
        <p:spPr>
          <a:xfrm>
            <a:off x="2458065" y="4522279"/>
            <a:ext cx="5270090" cy="0"/>
          </a:xfrm>
          <a:prstGeom prst="line">
            <a:avLst/>
          </a:prstGeom>
          <a:effectLst>
            <a:glow rad="101600">
              <a:schemeClr val="accent3">
                <a:satMod val="175000"/>
                <a:alpha val="40000"/>
              </a:schemeClr>
            </a:glow>
          </a:effectLst>
        </p:spPr>
        <p:style>
          <a:lnRef idx="2">
            <a:schemeClr val="accent5"/>
          </a:lnRef>
          <a:fillRef idx="0">
            <a:schemeClr val="accent5"/>
          </a:fillRef>
          <a:effectRef idx="1">
            <a:schemeClr val="accent5"/>
          </a:effectRef>
          <a:fontRef idx="minor">
            <a:schemeClr val="tx1"/>
          </a:fontRef>
        </p:style>
      </p:cxnSp>
      <p:sp>
        <p:nvSpPr>
          <p:cNvPr id="11" name="TextBox 10">
            <a:extLst>
              <a:ext uri="{FF2B5EF4-FFF2-40B4-BE49-F238E27FC236}">
                <a16:creationId xmlns:a16="http://schemas.microsoft.com/office/drawing/2014/main" id="{33F66B5E-773C-6FA6-6A05-4AD73B3E8AB0}"/>
              </a:ext>
            </a:extLst>
          </p:cNvPr>
          <p:cNvSpPr txBox="1"/>
          <p:nvPr/>
        </p:nvSpPr>
        <p:spPr>
          <a:xfrm>
            <a:off x="2644877" y="4601497"/>
            <a:ext cx="4640826" cy="523220"/>
          </a:xfrm>
          <a:prstGeom prst="rect">
            <a:avLst/>
          </a:prstGeom>
          <a:noFill/>
        </p:spPr>
        <p:txBody>
          <a:bodyPr wrap="square" rtlCol="0">
            <a:spAutoFit/>
          </a:bodyPr>
          <a:lstStyle/>
          <a:p>
            <a:r>
              <a:rPr lang="en-IN" sz="2800" dirty="0">
                <a:latin typeface="Bahnschrift Condensed" panose="020B0502040204020203" pitchFamily="34" charset="0"/>
              </a:rPr>
              <a:t>                Thanks for watching!</a:t>
            </a:r>
          </a:p>
        </p:txBody>
      </p:sp>
      <p:cxnSp>
        <p:nvCxnSpPr>
          <p:cNvPr id="13" name="Straight Connector 12">
            <a:extLst>
              <a:ext uri="{FF2B5EF4-FFF2-40B4-BE49-F238E27FC236}">
                <a16:creationId xmlns:a16="http://schemas.microsoft.com/office/drawing/2014/main" id="{405FF413-DBFB-FD21-1D8D-CB7266631498}"/>
              </a:ext>
            </a:extLst>
          </p:cNvPr>
          <p:cNvCxnSpPr>
            <a:cxnSpLocks/>
          </p:cNvCxnSpPr>
          <p:nvPr/>
        </p:nvCxnSpPr>
        <p:spPr>
          <a:xfrm>
            <a:off x="2458065" y="5223216"/>
            <a:ext cx="5378245" cy="12461"/>
          </a:xfrm>
          <a:prstGeom prst="line">
            <a:avLst/>
          </a:prstGeom>
          <a:effectLst>
            <a:glow rad="101600">
              <a:schemeClr val="accent3">
                <a:satMod val="175000"/>
                <a:alpha val="40000"/>
              </a:schemeClr>
            </a:glow>
          </a:effectLst>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984462383"/>
      </p:ext>
    </p:extLst>
  </p:cSld>
  <p:clrMapOvr>
    <a:masterClrMapping/>
  </p:clrMapOvr>
  <p:transition spd="slow">
    <p:push dir="u"/>
    <p:sndAc>
      <p:stSnd>
        <p:snd r:embed="rId2" name="click.wav"/>
      </p:stSnd>
    </p:sndAc>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1354</TotalTime>
  <Words>1177</Words>
  <Application>Microsoft Office PowerPoint</Application>
  <PresentationFormat>Widescreen</PresentationFormat>
  <Paragraphs>57</Paragraphs>
  <Slides>16</Slides>
  <Notes>0</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Algerian</vt:lpstr>
      <vt:lpstr>Aparajita</vt:lpstr>
      <vt:lpstr>Arial Black</vt:lpstr>
      <vt:lpstr>Arial Rounded MT Bold</vt:lpstr>
      <vt:lpstr>Bahnschrift Condensed</vt:lpstr>
      <vt:lpstr>Berlin Sans FB Demi</vt:lpstr>
      <vt:lpstr>Calisto MT</vt:lpstr>
      <vt:lpstr>Courier New</vt:lpstr>
      <vt:lpstr>Jokerman</vt:lpstr>
      <vt:lpstr>Wingdings</vt:lpstr>
      <vt:lpstr>Wingdings 2</vt:lpstr>
      <vt:lpstr>Slate</vt:lpstr>
      <vt:lpstr>CAFE MANAGEMENT SYSTEM</vt:lpstr>
      <vt:lpstr>             TEAM PROJECT: PRINCE KUMAR –  2210992090 PRERNA SHARMA -2210992086 PRAGTI GUPTA - 2210992056  </vt:lpstr>
      <vt:lpstr> 1. Introduction</vt:lpstr>
      <vt:lpstr>           2. ABSTRACT</vt:lpstr>
      <vt:lpstr>3. MODULES </vt:lpstr>
      <vt:lpstr>4.RESOURCE REQUIREMENT</vt:lpstr>
      <vt:lpstr>Non-Functional C/ External Requirement                                  Requirement Description</vt:lpstr>
      <vt:lpstr>Justification for project and Methodology !</vt:lpstr>
      <vt:lpstr>WORK PLAN  1.The customer must open "The cafe club" Webpage. 2.The customer must register his/her id and credentials to the page. 3.Order portal of the coffee club will be opened.  4.Customer should fill in the required order in the portals of the food items. 5.Customer should click on the cost button.  6. The Receipt of the food items ordered will appear with their prices and the tax added. 7.If you want to change your order then kindly click on the "RESET" button given below.  8.On clicking the button "PRICES' interface will show the list of food items with their prices as of Quantity 1. 9.For more information contact kindly visit! The Coffee Club" website on  facebook: The coffee club -02 Instagram : The coffee club-02 Thank you!!! for your order please review on our website.                                                                       HOPE TO SEE YOU AGAIN!! </vt:lpstr>
      <vt:lpstr>PowerPoint Presentation</vt:lpstr>
      <vt:lpstr>                    PURPOSE &amp; SCOPE  Purpose The main purpose preparing these documents is to give a general insight into the analysis and requirements of the existing system or situation and for determining the operating characteristics of the system. The proposed software will solve all the problem they are facing now. This software is designed such way that it will generate the bill automatically every order in time. So there not much worries. This being a Desktop based application is very easy to access. Data and Records are managed in centralized database. Data is secure and easy to retrieve, store, and analysis, so chances of miscalculations and occurrence of error are very less.</vt:lpstr>
      <vt:lpstr>                             Scope This system will help to manage and run the café shop systematically. In this management system, we will provide an app that can be used by cafe's employee to take order.  So that owner of shop can evaluates the whole system. This will ultimately lead to hire less waiters and create and opportunity to appoint more chefs and better shop to serve coffee faster. Employee can take payment which will managed into the software.</vt:lpstr>
      <vt:lpstr>Motivation &gt; </vt:lpstr>
      <vt:lpstr>reference</vt:lpstr>
      <vt:lpstr>BILLING MANAGEMENT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CAFÉ MANAGEMENT</dc:title>
  <dc:creator>Prince phutela</dc:creator>
  <cp:lastModifiedBy>Prince phutela</cp:lastModifiedBy>
  <cp:revision>13</cp:revision>
  <dcterms:created xsi:type="dcterms:W3CDTF">2022-11-28T09:45:32Z</dcterms:created>
  <dcterms:modified xsi:type="dcterms:W3CDTF">2022-12-23T06:38:20Z</dcterms:modified>
</cp:coreProperties>
</file>